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C Diary Girl" charset="1" panose="02000603000000000000"/>
      <p:regular r:id="rId22"/>
    </p:embeddedFont>
    <p:embeddedFont>
      <p:font typeface="Nunito" charset="1" panose="00000000000000000000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8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65442">
            <a:off x="15105791" y="2458225"/>
            <a:ext cx="2013817" cy="2206373"/>
          </a:xfrm>
          <a:custGeom>
            <a:avLst/>
            <a:gdLst/>
            <a:ahLst/>
            <a:cxnLst/>
            <a:rect r="r" b="b" t="t" l="l"/>
            <a:pathLst>
              <a:path h="2206373" w="2013817">
                <a:moveTo>
                  <a:pt x="0" y="0"/>
                </a:moveTo>
                <a:lnTo>
                  <a:pt x="2013817" y="0"/>
                </a:lnTo>
                <a:lnTo>
                  <a:pt x="2013817" y="2206373"/>
                </a:lnTo>
                <a:lnTo>
                  <a:pt x="0" y="22063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25094" y="8627655"/>
            <a:ext cx="3434206" cy="630645"/>
          </a:xfrm>
          <a:custGeom>
            <a:avLst/>
            <a:gdLst/>
            <a:ahLst/>
            <a:cxnLst/>
            <a:rect r="r" b="b" t="t" l="l"/>
            <a:pathLst>
              <a:path h="630645" w="3434206">
                <a:moveTo>
                  <a:pt x="0" y="0"/>
                </a:moveTo>
                <a:lnTo>
                  <a:pt x="3434206" y="0"/>
                </a:lnTo>
                <a:lnTo>
                  <a:pt x="3434206" y="630645"/>
                </a:lnTo>
                <a:lnTo>
                  <a:pt x="0" y="6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37417">
            <a:off x="604219" y="6989230"/>
            <a:ext cx="3549699" cy="2562238"/>
          </a:xfrm>
          <a:custGeom>
            <a:avLst/>
            <a:gdLst/>
            <a:ahLst/>
            <a:cxnLst/>
            <a:rect r="r" b="b" t="t" l="l"/>
            <a:pathLst>
              <a:path h="2562238" w="3549699">
                <a:moveTo>
                  <a:pt x="0" y="0"/>
                </a:moveTo>
                <a:lnTo>
                  <a:pt x="3549699" y="0"/>
                </a:lnTo>
                <a:lnTo>
                  <a:pt x="3549699" y="2562238"/>
                </a:lnTo>
                <a:lnTo>
                  <a:pt x="0" y="25622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83575" y="1105652"/>
            <a:ext cx="12858622" cy="322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 Page Allocation in xv6-riscv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05133" y="4394811"/>
            <a:ext cx="7146563" cy="5892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Submitted By: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Mazen Ahmed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Ahmed Hany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Karim Ahmed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Ayten Hassan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Rodina Ahmed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Instructor:</a:t>
            </a:r>
          </a:p>
          <a:p>
            <a:pPr algn="ctr">
              <a:lnSpc>
                <a:spcPts val="5197"/>
              </a:lnSpc>
            </a:pPr>
            <a:r>
              <a:rPr lang="en-US" sz="3712">
                <a:solidFill>
                  <a:srgbClr val="337271"/>
                </a:solidFill>
                <a:latin typeface="Nunito"/>
                <a:ea typeface="Nunito"/>
                <a:cs typeface="Nunito"/>
                <a:sym typeface="Nunito"/>
              </a:rPr>
              <a:t> Dr. Reem ElHalwany</a:t>
            </a:r>
          </a:p>
          <a:p>
            <a:pPr algn="ctr">
              <a:lnSpc>
                <a:spcPts val="519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7577" y="3060021"/>
            <a:ext cx="15572845" cy="6326283"/>
            <a:chOff x="0" y="0"/>
            <a:chExt cx="4101490" cy="16661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01490" cy="1666181"/>
            </a:xfrm>
            <a:custGeom>
              <a:avLst/>
              <a:gdLst/>
              <a:ahLst/>
              <a:cxnLst/>
              <a:rect r="r" b="b" t="t" l="l"/>
              <a:pathLst>
                <a:path h="1666181" w="4101490">
                  <a:moveTo>
                    <a:pt x="0" y="0"/>
                  </a:moveTo>
                  <a:lnTo>
                    <a:pt x="4101490" y="0"/>
                  </a:lnTo>
                  <a:lnTo>
                    <a:pt x="4101490" y="1666181"/>
                  </a:lnTo>
                  <a:lnTo>
                    <a:pt x="0" y="1666181"/>
                  </a:lnTo>
                  <a:close/>
                </a:path>
              </a:pathLst>
            </a:custGeom>
            <a:solidFill>
              <a:srgbClr val="33727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01490" cy="1704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50042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4644" y="1046872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Introduction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609822" y="3240405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4"/>
                </a:lnTo>
                <a:lnTo>
                  <a:pt x="0" y="1646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6532" y="3173730"/>
            <a:ext cx="10611812" cy="6692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8"/>
              </a:lnSpc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Wh</a:t>
            </a: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at is Lazy Page Allocation?</a:t>
            </a:r>
          </a:p>
          <a:p>
            <a:pPr algn="ctr">
              <a:lnSpc>
                <a:spcPts val="4838"/>
              </a:lnSpc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Lazy Page Allocation is a memory management technique where:</a:t>
            </a:r>
          </a:p>
          <a:p>
            <a:pPr algn="ctr" marL="746140" indent="-373070" lvl="1">
              <a:lnSpc>
                <a:spcPts val="4838"/>
              </a:lnSpc>
              <a:buFont typeface="Arial"/>
              <a:buChar char="•"/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Virtual memory is reserved first</a:t>
            </a:r>
          </a:p>
          <a:p>
            <a:pPr algn="ctr" marL="746140" indent="-373070" lvl="1">
              <a:lnSpc>
                <a:spcPts val="4838"/>
              </a:lnSpc>
              <a:buFont typeface="Arial"/>
              <a:buChar char="•"/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Physical RAM is allocated only when memory is actually used</a:t>
            </a:r>
          </a:p>
          <a:p>
            <a:pPr algn="ctr">
              <a:lnSpc>
                <a:spcPts val="4838"/>
              </a:lnSpc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Instead of allocating all memory immediately, the operating system waits until a page fault occurs.</a:t>
            </a:r>
          </a:p>
          <a:p>
            <a:pPr algn="ctr">
              <a:lnSpc>
                <a:spcPts val="4838"/>
              </a:lnSpc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This technique is also called:</a:t>
            </a:r>
          </a:p>
          <a:p>
            <a:pPr algn="ctr">
              <a:lnSpc>
                <a:spcPts val="4838"/>
              </a:lnSpc>
            </a:pPr>
            <a:r>
              <a:rPr lang="en-US" sz="3455">
                <a:solidFill>
                  <a:srgbClr val="F8F4EB"/>
                </a:solidFill>
                <a:latin typeface="Nunito"/>
                <a:ea typeface="Nunito"/>
                <a:cs typeface="Nunito"/>
                <a:sym typeface="Nunito"/>
              </a:rPr>
              <a:t>Demand Paging</a:t>
            </a:r>
          </a:p>
          <a:p>
            <a:pPr algn="ctr">
              <a:lnSpc>
                <a:spcPts val="48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01975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86025" y="737394"/>
            <a:ext cx="12680681" cy="2615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0"/>
              </a:lnSpc>
            </a:pPr>
            <a:r>
              <a:rPr lang="en-US" sz="7321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Why Do We Need Lazy Memory?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066" y="3417569"/>
            <a:ext cx="16230600" cy="172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3299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oblem in Traditional Allocation In normal xv6: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sbrk() → allocates all physical pages immediately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63539" y="4597851"/>
            <a:ext cx="9125652" cy="620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1"/>
              </a:lnSpc>
            </a:pPr>
            <a:r>
              <a:rPr lang="en-US" sz="2943" b="true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Problems:</a:t>
            </a:r>
          </a:p>
          <a:p>
            <a:pPr algn="ctr" marL="635586" indent="-317793" lvl="1">
              <a:lnSpc>
                <a:spcPts val="41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Slow allocation f</a:t>
            </a: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 large memory requests</a:t>
            </a:r>
          </a:p>
          <a:p>
            <a:pPr algn="ctr" marL="635586" indent="-317793" lvl="1">
              <a:lnSpc>
                <a:spcPts val="41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Wasted RAM for unused pages</a:t>
            </a:r>
          </a:p>
          <a:p>
            <a:pPr algn="ctr" marL="635586" indent="-317793" lvl="1">
              <a:lnSpc>
                <a:spcPts val="41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system performance</a:t>
            </a:r>
          </a:p>
          <a:p>
            <a:pPr algn="ctr" marL="635586" indent="-317793" lvl="1">
              <a:lnSpc>
                <a:spcPts val="41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Fewer processes can run simultaneously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process may request: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GB memory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only use: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 MB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  <a:r>
              <a:rPr lang="en-US" b="true" sz="2943">
                <a:solidFill>
                  <a:srgbClr val="3372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remaining memory is wasted.</a:t>
            </a:r>
          </a:p>
          <a:p>
            <a:pPr algn="ctr">
              <a:lnSpc>
                <a:spcPts val="4121"/>
              </a:lnSpc>
              <a:spcBef>
                <a:spcPct val="0"/>
              </a:spcBef>
            </a:pPr>
          </a:p>
          <a:p>
            <a:pPr algn="ctr">
              <a:lnSpc>
                <a:spcPts val="41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6140" y="3035836"/>
            <a:ext cx="17116855" cy="6021930"/>
            <a:chOff x="0" y="0"/>
            <a:chExt cx="4508143" cy="15860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08143" cy="1586023"/>
            </a:xfrm>
            <a:custGeom>
              <a:avLst/>
              <a:gdLst/>
              <a:ahLst/>
              <a:cxnLst/>
              <a:rect r="r" b="b" t="t" l="l"/>
              <a:pathLst>
                <a:path h="1586023" w="4508143">
                  <a:moveTo>
                    <a:pt x="0" y="0"/>
                  </a:moveTo>
                  <a:lnTo>
                    <a:pt x="4508143" y="0"/>
                  </a:lnTo>
                  <a:lnTo>
                    <a:pt x="4508143" y="1586023"/>
                  </a:lnTo>
                  <a:lnTo>
                    <a:pt x="0" y="1586023"/>
                  </a:lnTo>
                  <a:close/>
                </a:path>
              </a:pathLst>
            </a:custGeom>
            <a:ln w="38100" cap="sq">
              <a:solidFill>
                <a:srgbClr val="33727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08143" cy="1624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51781" y="429032"/>
            <a:ext cx="13185572" cy="100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4"/>
              </a:lnSpc>
            </a:pPr>
            <a:r>
              <a:rPr lang="en-US" sz="560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 Allocation Solution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06006" y="9057766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53965" y="3160978"/>
            <a:ext cx="11322628" cy="589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4"/>
              </a:lnSpc>
              <a:spcBef>
                <a:spcPct val="0"/>
              </a:spcBef>
            </a:pPr>
            <a:r>
              <a:rPr lang="en-US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Our S</a:t>
            </a: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olution</a:t>
            </a:r>
          </a:p>
          <a:p>
            <a:pPr algn="ctr">
              <a:lnSpc>
                <a:spcPts val="6664"/>
              </a:lnSpc>
              <a:spcBef>
                <a:spcPct val="0"/>
              </a:spcBef>
            </a:pP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Instead of allocating RAM immediately:</a:t>
            </a:r>
          </a:p>
          <a:p>
            <a:pPr algn="ctr" marL="1027717" indent="-513859" lvl="1">
              <a:lnSpc>
                <a:spcPts val="6664"/>
              </a:lnSpc>
              <a:spcBef>
                <a:spcPct val="0"/>
              </a:spcBef>
              <a:buAutoNum type="arabicPeriod" startAt="1"/>
            </a:pP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Increase virtual memory size only</a:t>
            </a:r>
          </a:p>
          <a:p>
            <a:pPr algn="ctr" marL="1027717" indent="-513859" lvl="1">
              <a:lnSpc>
                <a:spcPts val="6664"/>
              </a:lnSpc>
              <a:spcBef>
                <a:spcPct val="0"/>
              </a:spcBef>
              <a:buAutoNum type="arabicPeriod" startAt="1"/>
            </a:pP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Wait until memory is accessed</a:t>
            </a:r>
          </a:p>
          <a:p>
            <a:pPr algn="ctr" marL="1027717" indent="-513859" lvl="1">
              <a:lnSpc>
                <a:spcPts val="6664"/>
              </a:lnSpc>
              <a:spcBef>
                <a:spcPct val="0"/>
              </a:spcBef>
              <a:buAutoNum type="arabicPeriod" startAt="1"/>
            </a:pP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Handle page fault</a:t>
            </a:r>
          </a:p>
          <a:p>
            <a:pPr algn="ctr" marL="1027717" indent="-513859" lvl="1">
              <a:lnSpc>
                <a:spcPts val="6664"/>
              </a:lnSpc>
              <a:spcBef>
                <a:spcPct val="0"/>
              </a:spcBef>
              <a:buAutoNum type="arabicPeriod" startAt="1"/>
            </a:pPr>
            <a:r>
              <a:rPr lang="en-US" b="true" sz="476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Allocate page dynamically</a:t>
            </a:r>
          </a:p>
          <a:p>
            <a:pPr algn="ctr">
              <a:lnSpc>
                <a:spcPts val="66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87407" y="-219075"/>
            <a:ext cx="14299682" cy="145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Files Modified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509388" y="2871946"/>
          <a:ext cx="3771900" cy="3143250"/>
        </p:xfrm>
        <a:graphic>
          <a:graphicData uri="http://schemas.openxmlformats.org/presentationml/2006/ole">
            <p:oleObj imgW="4521200" imgH="3886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2660" y="661802"/>
            <a:ext cx="16186640" cy="277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5"/>
              </a:lnSpc>
            </a:pPr>
            <a:r>
              <a:rPr lang="en-US" sz="520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File 1: riscv.h</a:t>
            </a:r>
          </a:p>
          <a:p>
            <a:pPr algn="ctr">
              <a:lnSpc>
                <a:spcPts val="7285"/>
              </a:lnSpc>
            </a:pPr>
            <a:r>
              <a:rPr lang="en-US" sz="520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Purpose: Added page fault cause definitions.</a:t>
            </a:r>
          </a:p>
          <a:p>
            <a:pPr algn="ctr">
              <a:lnSpc>
                <a:spcPts val="728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25143" y="-389831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09453" y="2799274"/>
            <a:ext cx="8652129" cy="177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332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Added functions:</a:t>
            </a:r>
          </a:p>
          <a:p>
            <a:pPr algn="ctr">
              <a:lnSpc>
                <a:spcPts val="4660"/>
              </a:lnSpc>
              <a:spcBef>
                <a:spcPct val="0"/>
              </a:spcBef>
            </a:pPr>
            <a:r>
              <a:rPr lang="en-US" b="true" sz="332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#define CAUSE_LOAD_PAGE_FAULT 13</a:t>
            </a:r>
          </a:p>
          <a:p>
            <a:pPr algn="ctr">
              <a:lnSpc>
                <a:spcPts val="4660"/>
              </a:lnSpc>
              <a:spcBef>
                <a:spcPct val="0"/>
              </a:spcBef>
            </a:pPr>
            <a:r>
              <a:rPr lang="en-US" b="true" sz="332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#define CAUSE_STORE_PAGE_FAULT 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9236" y="4739395"/>
            <a:ext cx="10492562" cy="5175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Importance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These definitions help the kernel: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detect page faults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distinguish between: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read faults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write faults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Without them:</a:t>
            </a:r>
          </a:p>
          <a:p>
            <a:pPr algn="ctr">
              <a:lnSpc>
                <a:spcPts val="5088"/>
              </a:lnSpc>
              <a:spcBef>
                <a:spcPct val="0"/>
              </a:spcBef>
            </a:pPr>
            <a:r>
              <a:rPr lang="en-US" b="true" sz="3634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kernel cannot recognize lazy allocation faults.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3991" y="6870677"/>
            <a:ext cx="2977619" cy="4114800"/>
          </a:xfrm>
          <a:custGeom>
            <a:avLst/>
            <a:gdLst/>
            <a:ahLst/>
            <a:cxnLst/>
            <a:rect r="r" b="b" t="t" l="l"/>
            <a:pathLst>
              <a:path h="4114800" w="2977619">
                <a:moveTo>
                  <a:pt x="0" y="0"/>
                </a:moveTo>
                <a:lnTo>
                  <a:pt x="2977619" y="0"/>
                </a:lnTo>
                <a:lnTo>
                  <a:pt x="29776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81732" y="385093"/>
            <a:ext cx="11430651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File 2: sysproc.c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1190" y="2066249"/>
            <a:ext cx="13465619" cy="233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6"/>
              </a:lnSpc>
              <a:spcBef>
                <a:spcPct val="0"/>
              </a:spcBef>
            </a:pPr>
            <a:r>
              <a:rPr lang="en-US" b="true" sz="434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Modified Function: sys_sbrk()</a:t>
            </a:r>
          </a:p>
          <a:p>
            <a:pPr algn="ctr">
              <a:lnSpc>
                <a:spcPts val="6086"/>
              </a:lnSpc>
              <a:spcBef>
                <a:spcPct val="0"/>
              </a:spcBef>
            </a:pPr>
            <a:r>
              <a:rPr lang="en-US" b="true" sz="434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Old Behavior:</a:t>
            </a:r>
          </a:p>
          <a:p>
            <a:pPr algn="ctr">
              <a:lnSpc>
                <a:spcPts val="6086"/>
              </a:lnSpc>
              <a:spcBef>
                <a:spcPct val="0"/>
              </a:spcBef>
            </a:pPr>
            <a:r>
              <a:rPr lang="en-US" b="true" sz="434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sbrk() → immediate RAM allocation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57777" y="4303475"/>
            <a:ext cx="8729144" cy="57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New Behavior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sbrk() → only increases process size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Example: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p-&gt;sz += n;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Importance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Makes allocation: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faster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O(1)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independent of memory size</a:t>
            </a:r>
          </a:p>
          <a:p>
            <a:pPr algn="ctr">
              <a:lnSpc>
                <a:spcPts val="4538"/>
              </a:lnSpc>
              <a:spcBef>
                <a:spcPct val="0"/>
              </a:spcBef>
            </a:pPr>
            <a:r>
              <a:rPr lang="en-US" b="true" sz="3242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This is the core idea of lazy memory.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99932" y="-1172339"/>
            <a:ext cx="6257264" cy="3629213"/>
          </a:xfrm>
          <a:custGeom>
            <a:avLst/>
            <a:gdLst/>
            <a:ahLst/>
            <a:cxnLst/>
            <a:rect r="r" b="b" t="t" l="l"/>
            <a:pathLst>
              <a:path h="3629213" w="6257264">
                <a:moveTo>
                  <a:pt x="0" y="0"/>
                </a:moveTo>
                <a:lnTo>
                  <a:pt x="6257264" y="0"/>
                </a:lnTo>
                <a:lnTo>
                  <a:pt x="6257264" y="3629214"/>
                </a:lnTo>
                <a:lnTo>
                  <a:pt x="0" y="362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62779" y="385093"/>
            <a:ext cx="10032826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File 3: trap.c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8991" y="2777913"/>
            <a:ext cx="10102930" cy="616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Modified Function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usertrap()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Purpose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Handles: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load page faults 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store page faults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Main logic: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6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if(scause == 13 || scause == 15)</a:t>
            </a:r>
          </a:p>
          <a:p>
            <a:pPr algn="ctr">
              <a:lnSpc>
                <a:spcPts val="538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661334" y="2552996"/>
            <a:ext cx="6140687" cy="7273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Then: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Get fault address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Check if valid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Call: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lazy_alloc()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Importance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This file is the heart of the project because: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it catches the page fault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dynamically allocates memory</a:t>
            </a:r>
          </a:p>
          <a:p>
            <a:pPr algn="ctr">
              <a:lnSpc>
                <a:spcPts val="4767"/>
              </a:lnSpc>
              <a:spcBef>
                <a:spcPct val="0"/>
              </a:spcBef>
            </a:pPr>
            <a:r>
              <a:rPr lang="en-US" b="true" sz="340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resumes program execution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24361" y="402102"/>
            <a:ext cx="12839278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File 4: vm.c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36876"/>
            <a:ext cx="7508824" cy="699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Added Function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lazy_alloc()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Main Tasks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1. Align address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PGROUNDDOWN(va)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2. Allocate physical memory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kalloc()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3. Clear memory</a:t>
            </a:r>
          </a:p>
          <a:p>
            <a:pPr algn="ctr">
              <a:lnSpc>
                <a:spcPts val="6103"/>
              </a:lnSpc>
              <a:spcBef>
                <a:spcPct val="0"/>
              </a:spcBef>
            </a:pPr>
            <a:r>
              <a:rPr lang="en-US" b="true" sz="4359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memset()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2468004"/>
            <a:ext cx="7634185" cy="6790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. Map page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mappages()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Importance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This file performs the actual: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Physical Memory Allocation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Without it:</a:t>
            </a:r>
          </a:p>
          <a:p>
            <a:pPr algn="ctr">
              <a:lnSpc>
                <a:spcPts val="5926"/>
              </a:lnSpc>
              <a:spcBef>
                <a:spcPct val="0"/>
              </a:spcBef>
            </a:pPr>
            <a:r>
              <a:rPr lang="en-US" b="true" sz="423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no RAM pages would be created.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36668" y="277105"/>
            <a:ext cx="8476430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Testing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500075" y="2078164"/>
            <a:ext cx="9274958" cy="458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b="true" sz="368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We created multiple tests: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b="true" sz="368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1. Sequential Access Test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b="true" sz="368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Pages accessed one by one.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</a:p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b="true" sz="368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2. Random Access Test</a:t>
            </a:r>
          </a:p>
          <a:p>
            <a:pPr algn="ctr">
              <a:lnSpc>
                <a:spcPts val="5152"/>
              </a:lnSpc>
              <a:spcBef>
                <a:spcPct val="0"/>
              </a:spcBef>
            </a:pPr>
            <a:r>
              <a:rPr lang="en-US" b="true" sz="368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Pages accessed randomly.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746542"/>
            <a:ext cx="8554487" cy="486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3. Repeated Access Test</a:t>
            </a:r>
          </a:p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Checks that pages are not allocated twice.</a:t>
            </a:r>
          </a:p>
          <a:p>
            <a:pPr algn="ctr">
              <a:lnSpc>
                <a:spcPts val="5456"/>
              </a:lnSpc>
              <a:spcBef>
                <a:spcPct val="0"/>
              </a:spcBef>
            </a:pPr>
          </a:p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4. Performance Test</a:t>
            </a:r>
          </a:p>
          <a:p>
            <a:pPr algn="ctr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Compares lazy allocation with eager allocation.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2680" y="1959722"/>
            <a:ext cx="6996761" cy="4897733"/>
          </a:xfrm>
          <a:custGeom>
            <a:avLst/>
            <a:gdLst/>
            <a:ahLst/>
            <a:cxnLst/>
            <a:rect r="r" b="b" t="t" l="l"/>
            <a:pathLst>
              <a:path h="4897733" w="6996761">
                <a:moveTo>
                  <a:pt x="0" y="0"/>
                </a:moveTo>
                <a:lnTo>
                  <a:pt x="6996761" y="0"/>
                </a:lnTo>
                <a:lnTo>
                  <a:pt x="6996761" y="4897733"/>
                </a:lnTo>
                <a:lnTo>
                  <a:pt x="0" y="489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08759" y="37267"/>
            <a:ext cx="19464860" cy="129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Sequential Access Output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89441" y="2847299"/>
            <a:ext cx="9401313" cy="371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8"/>
              </a:lnSpc>
              <a:spcBef>
                <a:spcPct val="0"/>
              </a:spcBef>
            </a:pPr>
            <a:r>
              <a:rPr lang="en-US" b="true" sz="521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Result:</a:t>
            </a:r>
          </a:p>
          <a:p>
            <a:pPr algn="ctr">
              <a:lnSpc>
                <a:spcPts val="7298"/>
              </a:lnSpc>
              <a:spcBef>
                <a:spcPct val="0"/>
              </a:spcBef>
            </a:pPr>
            <a:r>
              <a:rPr lang="en-US" b="true" sz="521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each page faults once</a:t>
            </a:r>
          </a:p>
          <a:p>
            <a:pPr algn="ctr">
              <a:lnSpc>
                <a:spcPts val="7298"/>
              </a:lnSpc>
              <a:spcBef>
                <a:spcPct val="0"/>
              </a:spcBef>
            </a:pPr>
            <a:r>
              <a:rPr lang="en-US" b="true" sz="5213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allocation occurs only when needed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5785" y="200026"/>
            <a:ext cx="9192725" cy="90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6"/>
              </a:lnSpc>
            </a:pPr>
            <a:r>
              <a:rPr lang="en-US" sz="5018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Random Access Output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38587" y="2201565"/>
            <a:ext cx="12127121" cy="6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Random Pattern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3 → 7 → 1 → 5 → 0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Observation: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only touched pages get physical RAM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untouched pages remain lazy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This proves:</a:t>
            </a:r>
          </a:p>
          <a:p>
            <a:pPr algn="ctr">
              <a:lnSpc>
                <a:spcPts val="7176"/>
              </a:lnSpc>
              <a:spcBef>
                <a:spcPct val="0"/>
              </a:spcBef>
            </a:pPr>
            <a:r>
              <a:rPr lang="en-US" b="true" sz="5125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Demand Paging Works Correctly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6982" y="2052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4"/>
                </a:lnTo>
                <a:lnTo>
                  <a:pt x="0" y="1646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028700" y="3207820"/>
          <a:ext cx="5657850" cy="2514600"/>
        </p:xfrm>
        <a:graphic>
          <a:graphicData uri="http://schemas.openxmlformats.org/presentationml/2006/ole">
            <p:oleObj imgW="6781800" imgH="3644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804382" y="223399"/>
            <a:ext cx="13274654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Performance Testing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55928" y="4547929"/>
            <a:ext cx="6059532" cy="240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7"/>
              </a:lnSpc>
              <a:spcBef>
                <a:spcPct val="0"/>
              </a:spcBef>
            </a:pPr>
            <a:r>
              <a:rPr lang="en-US" b="true" sz="4498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Result</a:t>
            </a:r>
          </a:p>
          <a:p>
            <a:pPr algn="ctr">
              <a:lnSpc>
                <a:spcPts val="6297"/>
              </a:lnSpc>
              <a:spcBef>
                <a:spcPct val="0"/>
              </a:spcBef>
            </a:pPr>
            <a:r>
              <a:rPr lang="en-US" b="true" sz="4498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50x faster allocation</a:t>
            </a:r>
          </a:p>
          <a:p>
            <a:pPr algn="ctr">
              <a:lnSpc>
                <a:spcPts val="6297"/>
              </a:lnSpc>
              <a:spcBef>
                <a:spcPct val="0"/>
              </a:spcBef>
            </a:pPr>
            <a:r>
              <a:rPr lang="en-US" b="true" sz="4498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96% memory saving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6982" y="2052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4"/>
                </a:lnTo>
                <a:lnTo>
                  <a:pt x="0" y="1646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93915" y="223399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Final 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7845" y="2848167"/>
            <a:ext cx="5731014" cy="401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Final Statistics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Total Pages: 8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Allocated Pages: 8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 Pages: 0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Total Page Faults: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93915" y="6734366"/>
            <a:ext cx="10160794" cy="2419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Final Result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All tests passed!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Lazy allocation is working correctly!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0050" y="7739359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3551363" y="0"/>
                </a:moveTo>
                <a:lnTo>
                  <a:pt x="0" y="0"/>
                </a:lnTo>
                <a:lnTo>
                  <a:pt x="0" y="1646944"/>
                </a:lnTo>
                <a:lnTo>
                  <a:pt x="3551363" y="1646944"/>
                </a:lnTo>
                <a:lnTo>
                  <a:pt x="35513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46982" y="205228"/>
            <a:ext cx="3551363" cy="1646945"/>
          </a:xfrm>
          <a:custGeom>
            <a:avLst/>
            <a:gdLst/>
            <a:ahLst/>
            <a:cxnLst/>
            <a:rect r="r" b="b" t="t" l="l"/>
            <a:pathLst>
              <a:path h="1646945" w="3551363">
                <a:moveTo>
                  <a:pt x="0" y="0"/>
                </a:moveTo>
                <a:lnTo>
                  <a:pt x="3551364" y="0"/>
                </a:lnTo>
                <a:lnTo>
                  <a:pt x="3551364" y="1646944"/>
                </a:lnTo>
                <a:lnTo>
                  <a:pt x="0" y="1646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93915" y="-257175"/>
            <a:ext cx="8695587" cy="162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9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66900"/>
            <a:ext cx="16230600" cy="641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Our project successfully: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implemented lazy page allocation in xv6-riscv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reduced memory waste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improved allocation speed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handled page faults dynamically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This project demonstrates:</a:t>
            </a:r>
          </a:p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How modern operating systems manage memory efficiently.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416" r="0" b="-8341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65218" y="3200400"/>
            <a:ext cx="8695587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337271"/>
                </a:solidFill>
                <a:latin typeface="AC Diary Girl"/>
                <a:ea typeface="AC Diary Girl"/>
                <a:cs typeface="AC Diary Girl"/>
                <a:sym typeface="AC Diary Girl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34072" y="-1475968"/>
            <a:ext cx="3808435" cy="4114800"/>
          </a:xfrm>
          <a:custGeom>
            <a:avLst/>
            <a:gdLst/>
            <a:ahLst/>
            <a:cxnLst/>
            <a:rect r="r" b="b" t="t" l="l"/>
            <a:pathLst>
              <a:path h="4114800" w="3808435">
                <a:moveTo>
                  <a:pt x="0" y="0"/>
                </a:moveTo>
                <a:lnTo>
                  <a:pt x="3808435" y="0"/>
                </a:lnTo>
                <a:lnTo>
                  <a:pt x="3808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62311" y="8487580"/>
            <a:ext cx="4196989" cy="770720"/>
          </a:xfrm>
          <a:custGeom>
            <a:avLst/>
            <a:gdLst/>
            <a:ahLst/>
            <a:cxnLst/>
            <a:rect r="r" b="b" t="t" l="l"/>
            <a:pathLst>
              <a:path h="770720" w="4196989">
                <a:moveTo>
                  <a:pt x="0" y="0"/>
                </a:moveTo>
                <a:lnTo>
                  <a:pt x="4196989" y="0"/>
                </a:lnTo>
                <a:lnTo>
                  <a:pt x="4196989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246">
            <a:off x="3423654" y="3579497"/>
            <a:ext cx="4333509" cy="3128006"/>
          </a:xfrm>
          <a:custGeom>
            <a:avLst/>
            <a:gdLst/>
            <a:ahLst/>
            <a:cxnLst/>
            <a:rect r="r" b="b" t="t" l="l"/>
            <a:pathLst>
              <a:path h="3128006" w="4333509">
                <a:moveTo>
                  <a:pt x="0" y="0"/>
                </a:moveTo>
                <a:lnTo>
                  <a:pt x="4333509" y="0"/>
                </a:lnTo>
                <a:lnTo>
                  <a:pt x="4333509" y="3128006"/>
                </a:lnTo>
                <a:lnTo>
                  <a:pt x="0" y="31280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DAG8z29cLlE</dc:identifier>
  <dcterms:modified xsi:type="dcterms:W3CDTF">2011-08-01T06:04:30Z</dcterms:modified>
  <cp:revision>1</cp:revision>
  <dc:title>Project Management final</dc:title>
</cp:coreProperties>
</file>